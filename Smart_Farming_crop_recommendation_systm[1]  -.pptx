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TDTD귀욤뭉이" panose="020B0604020202020204" charset="-127"/>
      <p:regular r:id="rId12"/>
    </p:embeddedFont>
    <p:embeddedFont>
      <p:font typeface="Alice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Glacial Indifference" panose="020B0604020202020204" charset="0"/>
      <p:regular r:id="rId15"/>
    </p:embeddedFont>
    <p:embeddedFont>
      <p:font typeface="High Cruiser" panose="020B0604020202020204" charset="0"/>
      <p:regular r:id="rId16"/>
    </p:embeddedFont>
    <p:embeddedFont>
      <p:font typeface="Lava Pro Grunge" panose="020B0604020202020204"/>
      <p:regular r:id="rId17"/>
    </p:embeddedFont>
    <p:embeddedFont>
      <p:font typeface="Lava Pro Rough" panose="020B0604020202020204"/>
      <p:regular r:id="rId18"/>
    </p:embeddedFont>
    <p:embeddedFont>
      <p:font typeface="League Spartan" panose="020B0604020202020204" charset="0"/>
      <p:regular r:id="rId19"/>
    </p:embeddedFont>
    <p:embeddedFont>
      <p:font typeface="TS Damas Slab" panose="020B0604020202020204" charset="-78"/>
      <p:regular r:id="rId20"/>
    </p:embeddedFont>
    <p:embeddedFont>
      <p:font typeface="TS Damas Slab Bold" panose="020B0604020202020204" charset="-78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15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svg"/><Relationship Id="rId10" Type="http://schemas.openxmlformats.org/officeDocument/2006/relationships/image" Target="../media/image37.sv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207188" y="4199714"/>
            <a:ext cx="14808747" cy="3398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sz="9391">
                <a:solidFill>
                  <a:srgbClr val="FFFFFF"/>
                </a:solidFill>
                <a:latin typeface="Lava Pro Rough"/>
                <a:ea typeface="Lava Pro Rough"/>
                <a:cs typeface="Lava Pro Rough"/>
                <a:sym typeface="Lava Pro Rough"/>
              </a:rPr>
              <a:t>SMART FARMING CROP RECOMMENDATION SYSTEM</a:t>
            </a:r>
          </a:p>
          <a:p>
            <a:pPr algn="ctr">
              <a:lnSpc>
                <a:spcPts val="8734"/>
              </a:lnSpc>
            </a:pPr>
            <a:endParaRPr lang="en-US" sz="9391">
              <a:solidFill>
                <a:srgbClr val="FFFFFF"/>
              </a:solidFill>
              <a:latin typeface="Lava Pro Rough"/>
              <a:ea typeface="Lava Pro Rough"/>
              <a:cs typeface="Lava Pro Rough"/>
              <a:sym typeface="Lava Pro Rough"/>
            </a:endParaRPr>
          </a:p>
        </p:txBody>
      </p:sp>
      <p:sp>
        <p:nvSpPr>
          <p:cNvPr id="4" name="Freeform 4"/>
          <p:cNvSpPr/>
          <p:nvPr/>
        </p:nvSpPr>
        <p:spPr>
          <a:xfrm rot="2263044">
            <a:off x="14241979" y="3645969"/>
            <a:ext cx="4713316" cy="10287000"/>
          </a:xfrm>
          <a:custGeom>
            <a:avLst/>
            <a:gdLst/>
            <a:ahLst/>
            <a:cxnLst/>
            <a:rect l="l" t="t" r="r" b="b"/>
            <a:pathLst>
              <a:path w="4713316" h="10287000">
                <a:moveTo>
                  <a:pt x="0" y="0"/>
                </a:moveTo>
                <a:lnTo>
                  <a:pt x="4713316" y="0"/>
                </a:lnTo>
                <a:lnTo>
                  <a:pt x="47133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263044">
            <a:off x="-2124413" y="-2248397"/>
            <a:ext cx="4713316" cy="10287000"/>
          </a:xfrm>
          <a:custGeom>
            <a:avLst/>
            <a:gdLst/>
            <a:ahLst/>
            <a:cxnLst/>
            <a:rect l="l" t="t" r="r" b="b"/>
            <a:pathLst>
              <a:path w="4713316" h="10287000">
                <a:moveTo>
                  <a:pt x="0" y="0"/>
                </a:moveTo>
                <a:lnTo>
                  <a:pt x="4713316" y="0"/>
                </a:lnTo>
                <a:lnTo>
                  <a:pt x="47133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431824" y="7862401"/>
            <a:ext cx="899602" cy="543131"/>
          </a:xfrm>
          <a:custGeom>
            <a:avLst/>
            <a:gdLst/>
            <a:ahLst/>
            <a:cxnLst/>
            <a:rect l="l" t="t" r="r" b="b"/>
            <a:pathLst>
              <a:path w="899602" h="543131">
                <a:moveTo>
                  <a:pt x="0" y="0"/>
                </a:moveTo>
                <a:lnTo>
                  <a:pt x="899602" y="0"/>
                </a:lnTo>
                <a:lnTo>
                  <a:pt x="899602" y="543131"/>
                </a:lnTo>
                <a:lnTo>
                  <a:pt x="0" y="543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562224" y="8386795"/>
            <a:ext cx="6887698" cy="2139990"/>
            <a:chOff x="0" y="-152400"/>
            <a:chExt cx="9183597" cy="2853321"/>
          </a:xfrm>
        </p:grpSpPr>
        <p:sp>
          <p:nvSpPr>
            <p:cNvPr id="8" name="TextBox 8"/>
            <p:cNvSpPr txBox="1"/>
            <p:nvPr/>
          </p:nvSpPr>
          <p:spPr>
            <a:xfrm>
              <a:off x="0" y="-152400"/>
              <a:ext cx="9183597" cy="543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11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0820"/>
              <a:ext cx="9183597" cy="2550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26"/>
                </a:lnSpc>
              </a:pPr>
              <a:r>
                <a:rPr lang="en-US" sz="221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ARCHANA G-PRK24AD1006</a:t>
              </a:r>
            </a:p>
            <a:p>
              <a:pPr algn="ctr">
                <a:lnSpc>
                  <a:spcPts val="3826"/>
                </a:lnSpc>
              </a:pPr>
              <a:r>
                <a:rPr lang="en-US" sz="2212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AKSA MARY DANIEL-PRK24AD1012</a:t>
              </a:r>
            </a:p>
            <a:p>
              <a:pPr algn="ctr">
                <a:lnSpc>
                  <a:spcPts val="3826"/>
                </a:lnSpc>
              </a:pPr>
              <a:r>
                <a:rPr lang="en-US" sz="2212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AJANYA K A-PRK24AD1032</a:t>
              </a:r>
            </a:p>
            <a:p>
              <a:pPr algn="ctr">
                <a:lnSpc>
                  <a:spcPts val="3826"/>
                </a:lnSpc>
              </a:pPr>
              <a:endParaRPr lang="en-US" sz="2212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20948" flipH="1">
            <a:off x="-3045045" y="7092887"/>
            <a:ext cx="7107128" cy="7042518"/>
          </a:xfrm>
          <a:custGeom>
            <a:avLst/>
            <a:gdLst/>
            <a:ahLst/>
            <a:cxnLst/>
            <a:rect l="l" t="t" r="r" b="b"/>
            <a:pathLst>
              <a:path w="7107128" h="7042518">
                <a:moveTo>
                  <a:pt x="7107128" y="0"/>
                </a:moveTo>
                <a:lnTo>
                  <a:pt x="0" y="0"/>
                </a:lnTo>
                <a:lnTo>
                  <a:pt x="0" y="7042518"/>
                </a:lnTo>
                <a:lnTo>
                  <a:pt x="7107128" y="7042518"/>
                </a:lnTo>
                <a:lnTo>
                  <a:pt x="71071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612255">
            <a:off x="-973322" y="6822767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0" y="0"/>
                </a:moveTo>
                <a:lnTo>
                  <a:pt x="4927817" y="0"/>
                </a:lnTo>
                <a:lnTo>
                  <a:pt x="4927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92282" y="-2260258"/>
            <a:ext cx="5618691" cy="5859552"/>
          </a:xfrm>
          <a:custGeom>
            <a:avLst/>
            <a:gdLst/>
            <a:ahLst/>
            <a:cxnLst/>
            <a:rect l="l" t="t" r="r" b="b"/>
            <a:pathLst>
              <a:path w="5618691" h="5859552">
                <a:moveTo>
                  <a:pt x="0" y="0"/>
                </a:moveTo>
                <a:lnTo>
                  <a:pt x="5618692" y="0"/>
                </a:lnTo>
                <a:lnTo>
                  <a:pt x="5618692" y="5859552"/>
                </a:lnTo>
                <a:lnTo>
                  <a:pt x="0" y="5859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612255" flipH="1" flipV="1">
            <a:off x="14254911" y="-716052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492781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27817" y="0"/>
                </a:lnTo>
                <a:lnTo>
                  <a:pt x="492781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73101" y="-2676470"/>
            <a:ext cx="5841092" cy="6061511"/>
          </a:xfrm>
          <a:custGeom>
            <a:avLst/>
            <a:gdLst/>
            <a:ahLst/>
            <a:cxnLst/>
            <a:rect l="l" t="t" r="r" b="b"/>
            <a:pathLst>
              <a:path w="5841092" h="6061511">
                <a:moveTo>
                  <a:pt x="0" y="0"/>
                </a:moveTo>
                <a:lnTo>
                  <a:pt x="5841092" y="0"/>
                </a:lnTo>
                <a:lnTo>
                  <a:pt x="5841092" y="6061511"/>
                </a:lnTo>
                <a:lnTo>
                  <a:pt x="0" y="6061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69534">
            <a:off x="-1399079" y="-879534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8"/>
                </a:lnTo>
                <a:lnTo>
                  <a:pt x="0" y="51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92282" y="7351529"/>
            <a:ext cx="5250905" cy="4114800"/>
          </a:xfrm>
          <a:custGeom>
            <a:avLst/>
            <a:gdLst/>
            <a:ahLst/>
            <a:cxnLst/>
            <a:rect l="l" t="t" r="r" b="b"/>
            <a:pathLst>
              <a:path w="5250905" h="4114800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666300">
            <a:off x="13970948" y="7030771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9"/>
                </a:lnTo>
                <a:lnTo>
                  <a:pt x="0" y="5126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10186" y="-1244814"/>
            <a:ext cx="2164192" cy="2204269"/>
          </a:xfrm>
          <a:custGeom>
            <a:avLst/>
            <a:gdLst/>
            <a:ahLst/>
            <a:cxnLst/>
            <a:rect l="l" t="t" r="r" b="b"/>
            <a:pathLst>
              <a:path w="2164192" h="2204269">
                <a:moveTo>
                  <a:pt x="0" y="0"/>
                </a:moveTo>
                <a:lnTo>
                  <a:pt x="2164192" y="0"/>
                </a:lnTo>
                <a:lnTo>
                  <a:pt x="2164192" y="2204269"/>
                </a:lnTo>
                <a:lnTo>
                  <a:pt x="0" y="2204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67991" y="9258300"/>
            <a:ext cx="2550793" cy="1737458"/>
          </a:xfrm>
          <a:custGeom>
            <a:avLst/>
            <a:gdLst/>
            <a:ahLst/>
            <a:cxnLst/>
            <a:rect l="l" t="t" r="r" b="b"/>
            <a:pathLst>
              <a:path w="2550793" h="1737458">
                <a:moveTo>
                  <a:pt x="0" y="0"/>
                </a:moveTo>
                <a:lnTo>
                  <a:pt x="2550794" y="0"/>
                </a:lnTo>
                <a:lnTo>
                  <a:pt x="2550794" y="1737458"/>
                </a:lnTo>
                <a:lnTo>
                  <a:pt x="0" y="1737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82351">
            <a:off x="17416638" y="6074217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4" y="0"/>
                </a:lnTo>
                <a:lnTo>
                  <a:pt x="1742724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031688">
            <a:off x="-1367846" y="1995681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3" y="0"/>
                </a:lnTo>
                <a:lnTo>
                  <a:pt x="1742723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285493" y="1988882"/>
            <a:ext cx="7607154" cy="139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11382">
                <a:solidFill>
                  <a:srgbClr val="1F4327"/>
                </a:solidFill>
                <a:latin typeface="Lava Pro Grunge"/>
                <a:ea typeface="Lava Pro Grunge"/>
                <a:cs typeface="Lava Pro Grunge"/>
                <a:sym typeface="Lava Pro Grunge"/>
              </a:rPr>
              <a:t>ABSTRACT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029359"/>
            <a:ext cx="16913902" cy="314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303" lvl="1" indent="-320152" algn="just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The Smart Farming Crop Recommendation System is a web app that suggests optimal crops using a Random Forest model based on soil and climate data.</a:t>
            </a:r>
          </a:p>
          <a:p>
            <a:pPr marL="640303" lvl="1" indent="-320152" algn="just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 It features a dashboard with 10+ interactive charts for visual insights and trends.</a:t>
            </a:r>
          </a:p>
          <a:p>
            <a:pPr marL="640303" lvl="1" indent="-320152" algn="just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 A built-in chatbot answers queries on fertilizers, pest control, and smart irrigation.</a:t>
            </a:r>
          </a:p>
          <a:p>
            <a:pPr marL="640303" lvl="1" indent="-320152" algn="just">
              <a:lnSpc>
                <a:spcPts val="4152"/>
              </a:lnSpc>
              <a:buFont typeface="Arial"/>
              <a:buChar char="•"/>
            </a:pPr>
            <a:r>
              <a:rPr lang="en-US" sz="2965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 Built with Flask, Python, HTML, CSS, and JS, it empowers data-driven, smart agriculture.</a:t>
            </a:r>
          </a:p>
          <a:p>
            <a:pPr algn="l">
              <a:lnSpc>
                <a:spcPts val="4152"/>
              </a:lnSpc>
              <a:spcBef>
                <a:spcPct val="0"/>
              </a:spcBef>
            </a:pPr>
            <a:endParaRPr lang="en-US" sz="2965">
              <a:solidFill>
                <a:srgbClr val="1F4327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20948" flipH="1">
            <a:off x="-3406119" y="6959041"/>
            <a:ext cx="7107128" cy="7042518"/>
          </a:xfrm>
          <a:custGeom>
            <a:avLst/>
            <a:gdLst/>
            <a:ahLst/>
            <a:cxnLst/>
            <a:rect l="l" t="t" r="r" b="b"/>
            <a:pathLst>
              <a:path w="7107128" h="7042518">
                <a:moveTo>
                  <a:pt x="7107128" y="0"/>
                </a:moveTo>
                <a:lnTo>
                  <a:pt x="0" y="0"/>
                </a:lnTo>
                <a:lnTo>
                  <a:pt x="0" y="7042518"/>
                </a:lnTo>
                <a:lnTo>
                  <a:pt x="7107128" y="7042518"/>
                </a:lnTo>
                <a:lnTo>
                  <a:pt x="71071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612255">
            <a:off x="-1221892" y="7351529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0" y="0"/>
                </a:moveTo>
                <a:lnTo>
                  <a:pt x="4927816" y="0"/>
                </a:lnTo>
                <a:lnTo>
                  <a:pt x="49278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55578" y="-2676470"/>
            <a:ext cx="5618691" cy="5859552"/>
          </a:xfrm>
          <a:custGeom>
            <a:avLst/>
            <a:gdLst/>
            <a:ahLst/>
            <a:cxnLst/>
            <a:rect l="l" t="t" r="r" b="b"/>
            <a:pathLst>
              <a:path w="5618691" h="5859552">
                <a:moveTo>
                  <a:pt x="0" y="0"/>
                </a:moveTo>
                <a:lnTo>
                  <a:pt x="5618691" y="0"/>
                </a:lnTo>
                <a:lnTo>
                  <a:pt x="5618691" y="5859552"/>
                </a:lnTo>
                <a:lnTo>
                  <a:pt x="0" y="5859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612255" flipH="1" flipV="1">
            <a:off x="14676953" y="-1097945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492781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27817" y="0"/>
                </a:lnTo>
                <a:lnTo>
                  <a:pt x="492781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73101" y="-2676470"/>
            <a:ext cx="5841092" cy="6061511"/>
          </a:xfrm>
          <a:custGeom>
            <a:avLst/>
            <a:gdLst/>
            <a:ahLst/>
            <a:cxnLst/>
            <a:rect l="l" t="t" r="r" b="b"/>
            <a:pathLst>
              <a:path w="5841092" h="6061511">
                <a:moveTo>
                  <a:pt x="0" y="0"/>
                </a:moveTo>
                <a:lnTo>
                  <a:pt x="5841092" y="0"/>
                </a:lnTo>
                <a:lnTo>
                  <a:pt x="5841092" y="6061511"/>
                </a:lnTo>
                <a:lnTo>
                  <a:pt x="0" y="6061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69534">
            <a:off x="-1399079" y="-879534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8"/>
                </a:lnTo>
                <a:lnTo>
                  <a:pt x="0" y="51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92282" y="7351529"/>
            <a:ext cx="5250905" cy="4114800"/>
          </a:xfrm>
          <a:custGeom>
            <a:avLst/>
            <a:gdLst/>
            <a:ahLst/>
            <a:cxnLst/>
            <a:rect l="l" t="t" r="r" b="b"/>
            <a:pathLst>
              <a:path w="5250905" h="4114800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666300">
            <a:off x="13970948" y="7030771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9"/>
                </a:lnTo>
                <a:lnTo>
                  <a:pt x="0" y="5126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10186" y="-1244814"/>
            <a:ext cx="2164192" cy="2204269"/>
          </a:xfrm>
          <a:custGeom>
            <a:avLst/>
            <a:gdLst/>
            <a:ahLst/>
            <a:cxnLst/>
            <a:rect l="l" t="t" r="r" b="b"/>
            <a:pathLst>
              <a:path w="2164192" h="2204269">
                <a:moveTo>
                  <a:pt x="0" y="0"/>
                </a:moveTo>
                <a:lnTo>
                  <a:pt x="2164192" y="0"/>
                </a:lnTo>
                <a:lnTo>
                  <a:pt x="2164192" y="2204269"/>
                </a:lnTo>
                <a:lnTo>
                  <a:pt x="0" y="2204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963495" y="7055991"/>
            <a:ext cx="2550793" cy="1737458"/>
          </a:xfrm>
          <a:custGeom>
            <a:avLst/>
            <a:gdLst/>
            <a:ahLst/>
            <a:cxnLst/>
            <a:rect l="l" t="t" r="r" b="b"/>
            <a:pathLst>
              <a:path w="2550793" h="1737458">
                <a:moveTo>
                  <a:pt x="0" y="0"/>
                </a:moveTo>
                <a:lnTo>
                  <a:pt x="2550793" y="0"/>
                </a:lnTo>
                <a:lnTo>
                  <a:pt x="2550793" y="1737457"/>
                </a:lnTo>
                <a:lnTo>
                  <a:pt x="0" y="17374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82351">
            <a:off x="17416638" y="6074217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4" y="0"/>
                </a:lnTo>
                <a:lnTo>
                  <a:pt x="1742724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031688">
            <a:off x="-1367846" y="1545181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3" y="0"/>
                </a:lnTo>
                <a:lnTo>
                  <a:pt x="1742723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236466" y="1538853"/>
            <a:ext cx="10308359" cy="1395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44"/>
              </a:lnSpc>
            </a:pPr>
            <a:r>
              <a:rPr lang="en-US" sz="11382">
                <a:solidFill>
                  <a:srgbClr val="1F4327"/>
                </a:solidFill>
                <a:latin typeface="Lava Pro Grunge"/>
                <a:ea typeface="Lava Pro Grunge"/>
                <a:cs typeface="Lava Pro Grunge"/>
                <a:sym typeface="Lava Pro Grunge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637" y="3725162"/>
            <a:ext cx="17519363" cy="362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5712"/>
              </a:lnSpc>
              <a:buFont typeface="Arial"/>
              <a:buChar char="•"/>
            </a:pPr>
            <a:r>
              <a:rPr lang="en-US" sz="2800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Agriculture plays a crucial role in food security and farmers often struggle with choosing the right crops.</a:t>
            </a:r>
          </a:p>
          <a:p>
            <a:pPr marL="604521" lvl="1" indent="-302261" algn="l">
              <a:lnSpc>
                <a:spcPts val="5712"/>
              </a:lnSpc>
              <a:buFont typeface="Arial"/>
              <a:buChar char="•"/>
            </a:pPr>
            <a:r>
              <a:rPr lang="en-US" sz="2800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The Smart Farming Crop Recommendation System uses AI and ML to suggest the best crops to grow.</a:t>
            </a:r>
          </a:p>
          <a:p>
            <a:pPr marL="604521" lvl="1" indent="-302261" algn="l">
              <a:lnSpc>
                <a:spcPts val="5712"/>
              </a:lnSpc>
              <a:buFont typeface="Arial"/>
              <a:buChar char="•"/>
            </a:pPr>
            <a:r>
              <a:rPr lang="en-US" sz="2800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It analyzes soil nutrients, pH, temperature, humidity, and rainfall for accurate recommendations.</a:t>
            </a:r>
          </a:p>
          <a:p>
            <a:pPr marL="604521" lvl="1" indent="-302261" algn="l">
              <a:lnSpc>
                <a:spcPts val="5712"/>
              </a:lnSpc>
              <a:buFont typeface="Arial"/>
              <a:buChar char="•"/>
            </a:pPr>
            <a:r>
              <a:rPr lang="en-US" sz="2800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Features like a chatbot and interactive dashboard help farmers make smarter, data-driven decisions.</a:t>
            </a:r>
          </a:p>
          <a:p>
            <a:pPr algn="l">
              <a:lnSpc>
                <a:spcPts val="6411"/>
              </a:lnSpc>
            </a:pPr>
            <a:endParaRPr lang="en-US" sz="2800">
              <a:solidFill>
                <a:srgbClr val="1F4327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20948" flipH="1">
            <a:off x="-3045045" y="7092887"/>
            <a:ext cx="7107128" cy="7042518"/>
          </a:xfrm>
          <a:custGeom>
            <a:avLst/>
            <a:gdLst/>
            <a:ahLst/>
            <a:cxnLst/>
            <a:rect l="l" t="t" r="r" b="b"/>
            <a:pathLst>
              <a:path w="7107128" h="7042518">
                <a:moveTo>
                  <a:pt x="7107128" y="0"/>
                </a:moveTo>
                <a:lnTo>
                  <a:pt x="0" y="0"/>
                </a:lnTo>
                <a:lnTo>
                  <a:pt x="0" y="7042518"/>
                </a:lnTo>
                <a:lnTo>
                  <a:pt x="7107128" y="7042518"/>
                </a:lnTo>
                <a:lnTo>
                  <a:pt x="71071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612255">
            <a:off x="-973322" y="6822767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0" y="0"/>
                </a:moveTo>
                <a:lnTo>
                  <a:pt x="4927817" y="0"/>
                </a:lnTo>
                <a:lnTo>
                  <a:pt x="4927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92282" y="-2260258"/>
            <a:ext cx="5618691" cy="5859552"/>
          </a:xfrm>
          <a:custGeom>
            <a:avLst/>
            <a:gdLst/>
            <a:ahLst/>
            <a:cxnLst/>
            <a:rect l="l" t="t" r="r" b="b"/>
            <a:pathLst>
              <a:path w="5618691" h="5859552">
                <a:moveTo>
                  <a:pt x="0" y="0"/>
                </a:moveTo>
                <a:lnTo>
                  <a:pt x="5618692" y="0"/>
                </a:lnTo>
                <a:lnTo>
                  <a:pt x="5618692" y="5859552"/>
                </a:lnTo>
                <a:lnTo>
                  <a:pt x="0" y="5859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612255" flipH="1" flipV="1">
            <a:off x="14254911" y="-716052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492781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27817" y="0"/>
                </a:lnTo>
                <a:lnTo>
                  <a:pt x="492781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73101" y="-2676470"/>
            <a:ext cx="5841092" cy="6061511"/>
          </a:xfrm>
          <a:custGeom>
            <a:avLst/>
            <a:gdLst/>
            <a:ahLst/>
            <a:cxnLst/>
            <a:rect l="l" t="t" r="r" b="b"/>
            <a:pathLst>
              <a:path w="5841092" h="6061511">
                <a:moveTo>
                  <a:pt x="0" y="0"/>
                </a:moveTo>
                <a:lnTo>
                  <a:pt x="5841092" y="0"/>
                </a:lnTo>
                <a:lnTo>
                  <a:pt x="5841092" y="6061511"/>
                </a:lnTo>
                <a:lnTo>
                  <a:pt x="0" y="6061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69534">
            <a:off x="-1399079" y="-879534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8"/>
                </a:lnTo>
                <a:lnTo>
                  <a:pt x="0" y="51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92282" y="7351529"/>
            <a:ext cx="5250905" cy="4114800"/>
          </a:xfrm>
          <a:custGeom>
            <a:avLst/>
            <a:gdLst/>
            <a:ahLst/>
            <a:cxnLst/>
            <a:rect l="l" t="t" r="r" b="b"/>
            <a:pathLst>
              <a:path w="5250905" h="4114800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666300">
            <a:off x="13970948" y="7030771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9"/>
                </a:lnTo>
                <a:lnTo>
                  <a:pt x="0" y="5126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10186" y="-1244814"/>
            <a:ext cx="2164192" cy="2204269"/>
          </a:xfrm>
          <a:custGeom>
            <a:avLst/>
            <a:gdLst/>
            <a:ahLst/>
            <a:cxnLst/>
            <a:rect l="l" t="t" r="r" b="b"/>
            <a:pathLst>
              <a:path w="2164192" h="2204269">
                <a:moveTo>
                  <a:pt x="0" y="0"/>
                </a:moveTo>
                <a:lnTo>
                  <a:pt x="2164192" y="0"/>
                </a:lnTo>
                <a:lnTo>
                  <a:pt x="2164192" y="2204269"/>
                </a:lnTo>
                <a:lnTo>
                  <a:pt x="0" y="2204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67991" y="9258300"/>
            <a:ext cx="2550793" cy="1737458"/>
          </a:xfrm>
          <a:custGeom>
            <a:avLst/>
            <a:gdLst/>
            <a:ahLst/>
            <a:cxnLst/>
            <a:rect l="l" t="t" r="r" b="b"/>
            <a:pathLst>
              <a:path w="2550793" h="1737458">
                <a:moveTo>
                  <a:pt x="0" y="0"/>
                </a:moveTo>
                <a:lnTo>
                  <a:pt x="2550794" y="0"/>
                </a:lnTo>
                <a:lnTo>
                  <a:pt x="2550794" y="1737458"/>
                </a:lnTo>
                <a:lnTo>
                  <a:pt x="0" y="1737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82351">
            <a:off x="17416638" y="6074217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4" y="0"/>
                </a:lnTo>
                <a:lnTo>
                  <a:pt x="1742724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031688">
            <a:off x="-1367846" y="1995681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3" y="0"/>
                </a:lnTo>
                <a:lnTo>
                  <a:pt x="1742723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004702" y="1273780"/>
            <a:ext cx="9950870" cy="1313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3"/>
              </a:lnSpc>
            </a:pPr>
            <a:r>
              <a:rPr lang="en-US" sz="10725">
                <a:solidFill>
                  <a:srgbClr val="1F4327"/>
                </a:solidFill>
                <a:latin typeface="Lava Pro Grunge"/>
                <a:ea typeface="Lava Pro Grunge"/>
                <a:cs typeface="Lava Pro Grunge"/>
                <a:sym typeface="Lava Pro Grunge"/>
              </a:rPr>
              <a:t>PROBLEM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3388" y="3860835"/>
            <a:ext cx="17088238" cy="3189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565" lvl="1" indent="-328283" algn="just">
              <a:lnSpc>
                <a:spcPts val="4257"/>
              </a:lnSpc>
              <a:buFont typeface="Arial"/>
              <a:buChar char="•"/>
            </a:pPr>
            <a:r>
              <a:rPr lang="en-US" sz="3041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Farmers face challenges due to climate and soil changes.</a:t>
            </a:r>
          </a:p>
          <a:p>
            <a:pPr marL="656565" lvl="1" indent="-328283" algn="just">
              <a:lnSpc>
                <a:spcPts val="4257"/>
              </a:lnSpc>
              <a:buFont typeface="Arial"/>
              <a:buChar char="•"/>
            </a:pPr>
            <a:r>
              <a:rPr lang="en-US" sz="3041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Misuse of fertilizers harms soil health.</a:t>
            </a:r>
          </a:p>
          <a:p>
            <a:pPr marL="656565" lvl="1" indent="-328283" algn="just">
              <a:lnSpc>
                <a:spcPts val="4257"/>
              </a:lnSpc>
              <a:buFont typeface="Arial"/>
              <a:buChar char="•"/>
            </a:pPr>
            <a:r>
              <a:rPr lang="en-US" sz="3041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Lack of data reduces crop productivity.</a:t>
            </a:r>
          </a:p>
          <a:p>
            <a:pPr marL="656565" lvl="1" indent="-328283" algn="just">
              <a:lnSpc>
                <a:spcPts val="4257"/>
              </a:lnSpc>
              <a:buFont typeface="Arial"/>
              <a:buChar char="•"/>
            </a:pPr>
            <a:r>
              <a:rPr lang="en-US" sz="3041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Need for a smart, real-time crop advisory system.</a:t>
            </a:r>
          </a:p>
          <a:p>
            <a:pPr marL="656565" lvl="1" indent="-328283" algn="just">
              <a:lnSpc>
                <a:spcPts val="4257"/>
              </a:lnSpc>
              <a:buFont typeface="Arial"/>
              <a:buChar char="•"/>
            </a:pPr>
            <a:r>
              <a:rPr lang="en-US" sz="3041">
                <a:solidFill>
                  <a:srgbClr val="1F4327"/>
                </a:solidFill>
                <a:latin typeface="Alice"/>
                <a:ea typeface="Alice"/>
                <a:cs typeface="Alice"/>
                <a:sym typeface="Alice"/>
              </a:rPr>
              <a:t>AI/ML can enable accurate, efficient crop suggestions</a:t>
            </a:r>
          </a:p>
          <a:p>
            <a:pPr algn="just">
              <a:lnSpc>
                <a:spcPts val="4257"/>
              </a:lnSpc>
            </a:pPr>
            <a:endParaRPr lang="en-US" sz="3041">
              <a:solidFill>
                <a:srgbClr val="1F4327"/>
              </a:solidFill>
              <a:latin typeface="Alice"/>
              <a:ea typeface="Alice"/>
              <a:cs typeface="Alice"/>
              <a:sym typeface="Ali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20948" flipH="1">
            <a:off x="-3045045" y="7092887"/>
            <a:ext cx="7107128" cy="7042518"/>
          </a:xfrm>
          <a:custGeom>
            <a:avLst/>
            <a:gdLst/>
            <a:ahLst/>
            <a:cxnLst/>
            <a:rect l="l" t="t" r="r" b="b"/>
            <a:pathLst>
              <a:path w="7107128" h="7042518">
                <a:moveTo>
                  <a:pt x="7107128" y="0"/>
                </a:moveTo>
                <a:lnTo>
                  <a:pt x="0" y="0"/>
                </a:lnTo>
                <a:lnTo>
                  <a:pt x="0" y="7042518"/>
                </a:lnTo>
                <a:lnTo>
                  <a:pt x="7107128" y="7042518"/>
                </a:lnTo>
                <a:lnTo>
                  <a:pt x="71071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612255">
            <a:off x="-973322" y="6822767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0" y="0"/>
                </a:moveTo>
                <a:lnTo>
                  <a:pt x="4927817" y="0"/>
                </a:lnTo>
                <a:lnTo>
                  <a:pt x="4927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92282" y="-2260258"/>
            <a:ext cx="5618691" cy="5859552"/>
          </a:xfrm>
          <a:custGeom>
            <a:avLst/>
            <a:gdLst/>
            <a:ahLst/>
            <a:cxnLst/>
            <a:rect l="l" t="t" r="r" b="b"/>
            <a:pathLst>
              <a:path w="5618691" h="5859552">
                <a:moveTo>
                  <a:pt x="0" y="0"/>
                </a:moveTo>
                <a:lnTo>
                  <a:pt x="5618692" y="0"/>
                </a:lnTo>
                <a:lnTo>
                  <a:pt x="5618692" y="5859552"/>
                </a:lnTo>
                <a:lnTo>
                  <a:pt x="0" y="5859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612255" flipH="1" flipV="1">
            <a:off x="14254911" y="-716052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492781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27817" y="0"/>
                </a:lnTo>
                <a:lnTo>
                  <a:pt x="492781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73101" y="-2676470"/>
            <a:ext cx="5841092" cy="6061511"/>
          </a:xfrm>
          <a:custGeom>
            <a:avLst/>
            <a:gdLst/>
            <a:ahLst/>
            <a:cxnLst/>
            <a:rect l="l" t="t" r="r" b="b"/>
            <a:pathLst>
              <a:path w="5841092" h="6061511">
                <a:moveTo>
                  <a:pt x="0" y="0"/>
                </a:moveTo>
                <a:lnTo>
                  <a:pt x="5841092" y="0"/>
                </a:lnTo>
                <a:lnTo>
                  <a:pt x="5841092" y="6061511"/>
                </a:lnTo>
                <a:lnTo>
                  <a:pt x="0" y="6061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69534">
            <a:off x="-1399079" y="-879534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8"/>
                </a:lnTo>
                <a:lnTo>
                  <a:pt x="0" y="51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92282" y="7351529"/>
            <a:ext cx="5250905" cy="4114800"/>
          </a:xfrm>
          <a:custGeom>
            <a:avLst/>
            <a:gdLst/>
            <a:ahLst/>
            <a:cxnLst/>
            <a:rect l="l" t="t" r="r" b="b"/>
            <a:pathLst>
              <a:path w="5250905" h="4114800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666300">
            <a:off x="13970948" y="7030771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9"/>
                </a:lnTo>
                <a:lnTo>
                  <a:pt x="0" y="5126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10186" y="-1244814"/>
            <a:ext cx="2164192" cy="2204269"/>
          </a:xfrm>
          <a:custGeom>
            <a:avLst/>
            <a:gdLst/>
            <a:ahLst/>
            <a:cxnLst/>
            <a:rect l="l" t="t" r="r" b="b"/>
            <a:pathLst>
              <a:path w="2164192" h="2204269">
                <a:moveTo>
                  <a:pt x="0" y="0"/>
                </a:moveTo>
                <a:lnTo>
                  <a:pt x="2164192" y="0"/>
                </a:lnTo>
                <a:lnTo>
                  <a:pt x="2164192" y="2204269"/>
                </a:lnTo>
                <a:lnTo>
                  <a:pt x="0" y="2204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67991" y="9258300"/>
            <a:ext cx="2550793" cy="1737458"/>
          </a:xfrm>
          <a:custGeom>
            <a:avLst/>
            <a:gdLst/>
            <a:ahLst/>
            <a:cxnLst/>
            <a:rect l="l" t="t" r="r" b="b"/>
            <a:pathLst>
              <a:path w="2550793" h="1737458">
                <a:moveTo>
                  <a:pt x="0" y="0"/>
                </a:moveTo>
                <a:lnTo>
                  <a:pt x="2550794" y="0"/>
                </a:lnTo>
                <a:lnTo>
                  <a:pt x="2550794" y="1737458"/>
                </a:lnTo>
                <a:lnTo>
                  <a:pt x="0" y="1737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82351">
            <a:off x="17416638" y="6074217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4" y="0"/>
                </a:lnTo>
                <a:lnTo>
                  <a:pt x="1742724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031688">
            <a:off x="-1367846" y="1995681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3" y="0"/>
                </a:lnTo>
                <a:lnTo>
                  <a:pt x="1742723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385216" y="2605351"/>
            <a:ext cx="14013511" cy="591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2"/>
              </a:lnSpc>
            </a:pPr>
            <a:r>
              <a:rPr lang="en-US" sz="2854" b="1">
                <a:solidFill>
                  <a:srgbClr val="1F4327"/>
                </a:solidFill>
                <a:latin typeface="TS Damas Slab Bold"/>
                <a:ea typeface="TS Damas Slab Bold"/>
                <a:cs typeface="TS Damas Slab Bold"/>
                <a:sym typeface="TS Damas Slab Bold"/>
              </a:rPr>
              <a:t> General Objective:</a:t>
            </a:r>
          </a:p>
          <a:p>
            <a:pPr marL="616303" lvl="1" indent="-308151" algn="l">
              <a:lnSpc>
                <a:spcPts val="4852"/>
              </a:lnSpc>
              <a:buFont typeface="Arial"/>
              <a:buChar char="•"/>
            </a:pPr>
            <a:r>
              <a:rPr lang="en-US" sz="28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Develop a web-based system that recommends suitable crops using machine learning.</a:t>
            </a:r>
          </a:p>
          <a:p>
            <a:pPr marL="616303" lvl="1" indent="-308151" algn="l">
              <a:lnSpc>
                <a:spcPts val="4852"/>
              </a:lnSpc>
              <a:buFont typeface="Arial"/>
              <a:buChar char="•"/>
            </a:pPr>
            <a:r>
              <a:rPr lang="en-US" sz="28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Provide chatbot support to assist users with farming-related queries.</a:t>
            </a:r>
          </a:p>
          <a:p>
            <a:pPr algn="ctr">
              <a:lnSpc>
                <a:spcPts val="3996"/>
              </a:lnSpc>
            </a:pPr>
            <a:endParaRPr lang="en-US" sz="2854">
              <a:solidFill>
                <a:srgbClr val="1F4327"/>
              </a:solidFill>
              <a:latin typeface="TS Damas Slab"/>
              <a:ea typeface="TS Damas Slab"/>
              <a:cs typeface="TS Damas Slab"/>
              <a:sym typeface="TS Damas Slab"/>
            </a:endParaRPr>
          </a:p>
          <a:p>
            <a:pPr algn="l">
              <a:lnSpc>
                <a:spcPts val="3996"/>
              </a:lnSpc>
            </a:pPr>
            <a:r>
              <a:rPr lang="en-US" sz="2854" b="1">
                <a:solidFill>
                  <a:srgbClr val="1F4327"/>
                </a:solidFill>
                <a:latin typeface="TS Damas Slab Bold"/>
                <a:ea typeface="TS Damas Slab Bold"/>
                <a:cs typeface="TS Damas Slab Bold"/>
                <a:sym typeface="TS Damas Slab Bold"/>
              </a:rPr>
              <a:t>Specific Objectives:</a:t>
            </a:r>
          </a:p>
          <a:p>
            <a:pPr marL="616303" lvl="1" indent="-308151" algn="l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Analyze soil and weather data for crop prediction.</a:t>
            </a:r>
          </a:p>
          <a:p>
            <a:pPr marL="616303" lvl="1" indent="-308151" algn="l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Train a Random Forest ML model.</a:t>
            </a:r>
          </a:p>
          <a:p>
            <a:pPr marL="616303" lvl="1" indent="-308151" algn="l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Build a user-friendly web interface.</a:t>
            </a:r>
          </a:p>
          <a:p>
            <a:pPr marL="616303" lvl="1" indent="-308151" algn="l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Add a chatbot for farming queries.</a:t>
            </a:r>
          </a:p>
          <a:p>
            <a:pPr marL="616303" lvl="1" indent="-308151" algn="l">
              <a:lnSpc>
                <a:spcPts val="3996"/>
              </a:lnSpc>
              <a:buFont typeface="Arial"/>
              <a:buChar char="•"/>
            </a:pPr>
            <a:r>
              <a:rPr lang="en-US" sz="28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Display data using simple charts.</a:t>
            </a:r>
          </a:p>
          <a:p>
            <a:pPr algn="ctr">
              <a:lnSpc>
                <a:spcPts val="4416"/>
              </a:lnSpc>
            </a:pPr>
            <a:endParaRPr lang="en-US" sz="2854">
              <a:solidFill>
                <a:srgbClr val="1F4327"/>
              </a:solidFill>
              <a:latin typeface="TS Damas Slab"/>
              <a:ea typeface="TS Damas Slab"/>
              <a:cs typeface="TS Damas Slab"/>
              <a:sym typeface="TS Damas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191214" y="1163867"/>
            <a:ext cx="9273699" cy="134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70"/>
              </a:lnSpc>
            </a:pPr>
            <a:r>
              <a:rPr lang="en-US" sz="10856">
                <a:solidFill>
                  <a:srgbClr val="1F4327"/>
                </a:solidFill>
                <a:latin typeface="Lava Pro Grunge"/>
                <a:ea typeface="Lava Pro Grunge"/>
                <a:cs typeface="Lava Pro Grunge"/>
                <a:sym typeface="Lava Pro Grunge"/>
              </a:rPr>
              <a:t>OBJECTIVE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20948" flipH="1">
            <a:off x="-3045045" y="7092887"/>
            <a:ext cx="7107128" cy="7042518"/>
          </a:xfrm>
          <a:custGeom>
            <a:avLst/>
            <a:gdLst/>
            <a:ahLst/>
            <a:cxnLst/>
            <a:rect l="l" t="t" r="r" b="b"/>
            <a:pathLst>
              <a:path w="7107128" h="7042518">
                <a:moveTo>
                  <a:pt x="7107128" y="0"/>
                </a:moveTo>
                <a:lnTo>
                  <a:pt x="0" y="0"/>
                </a:lnTo>
                <a:lnTo>
                  <a:pt x="0" y="7042518"/>
                </a:lnTo>
                <a:lnTo>
                  <a:pt x="7107128" y="7042518"/>
                </a:lnTo>
                <a:lnTo>
                  <a:pt x="71071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612255">
            <a:off x="-973322" y="6822767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0" y="0"/>
                </a:moveTo>
                <a:lnTo>
                  <a:pt x="4927817" y="0"/>
                </a:lnTo>
                <a:lnTo>
                  <a:pt x="4927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92282" y="-2260258"/>
            <a:ext cx="5618691" cy="5859552"/>
          </a:xfrm>
          <a:custGeom>
            <a:avLst/>
            <a:gdLst/>
            <a:ahLst/>
            <a:cxnLst/>
            <a:rect l="l" t="t" r="r" b="b"/>
            <a:pathLst>
              <a:path w="5618691" h="5859552">
                <a:moveTo>
                  <a:pt x="0" y="0"/>
                </a:moveTo>
                <a:lnTo>
                  <a:pt x="5618692" y="0"/>
                </a:lnTo>
                <a:lnTo>
                  <a:pt x="5618692" y="5859552"/>
                </a:lnTo>
                <a:lnTo>
                  <a:pt x="0" y="5859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612255" flipH="1" flipV="1">
            <a:off x="14254911" y="-716052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492781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27817" y="0"/>
                </a:lnTo>
                <a:lnTo>
                  <a:pt x="492781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73101" y="-2676470"/>
            <a:ext cx="5841092" cy="6061511"/>
          </a:xfrm>
          <a:custGeom>
            <a:avLst/>
            <a:gdLst/>
            <a:ahLst/>
            <a:cxnLst/>
            <a:rect l="l" t="t" r="r" b="b"/>
            <a:pathLst>
              <a:path w="5841092" h="6061511">
                <a:moveTo>
                  <a:pt x="0" y="0"/>
                </a:moveTo>
                <a:lnTo>
                  <a:pt x="5841092" y="0"/>
                </a:lnTo>
                <a:lnTo>
                  <a:pt x="5841092" y="6061511"/>
                </a:lnTo>
                <a:lnTo>
                  <a:pt x="0" y="6061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69534">
            <a:off x="-1399079" y="-879534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8"/>
                </a:lnTo>
                <a:lnTo>
                  <a:pt x="0" y="51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92282" y="7351529"/>
            <a:ext cx="5250905" cy="4114800"/>
          </a:xfrm>
          <a:custGeom>
            <a:avLst/>
            <a:gdLst/>
            <a:ahLst/>
            <a:cxnLst/>
            <a:rect l="l" t="t" r="r" b="b"/>
            <a:pathLst>
              <a:path w="5250905" h="4114800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666300">
            <a:off x="13970948" y="7030771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9"/>
                </a:lnTo>
                <a:lnTo>
                  <a:pt x="0" y="5126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10186" y="-1244814"/>
            <a:ext cx="2164192" cy="2204269"/>
          </a:xfrm>
          <a:custGeom>
            <a:avLst/>
            <a:gdLst/>
            <a:ahLst/>
            <a:cxnLst/>
            <a:rect l="l" t="t" r="r" b="b"/>
            <a:pathLst>
              <a:path w="2164192" h="2204269">
                <a:moveTo>
                  <a:pt x="0" y="0"/>
                </a:moveTo>
                <a:lnTo>
                  <a:pt x="2164192" y="0"/>
                </a:lnTo>
                <a:lnTo>
                  <a:pt x="2164192" y="2204269"/>
                </a:lnTo>
                <a:lnTo>
                  <a:pt x="0" y="2204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67991" y="9258300"/>
            <a:ext cx="2550793" cy="1737458"/>
          </a:xfrm>
          <a:custGeom>
            <a:avLst/>
            <a:gdLst/>
            <a:ahLst/>
            <a:cxnLst/>
            <a:rect l="l" t="t" r="r" b="b"/>
            <a:pathLst>
              <a:path w="2550793" h="1737458">
                <a:moveTo>
                  <a:pt x="0" y="0"/>
                </a:moveTo>
                <a:lnTo>
                  <a:pt x="2550794" y="0"/>
                </a:lnTo>
                <a:lnTo>
                  <a:pt x="2550794" y="1737458"/>
                </a:lnTo>
                <a:lnTo>
                  <a:pt x="0" y="1737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82351">
            <a:off x="17416638" y="6074217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4" y="0"/>
                </a:lnTo>
                <a:lnTo>
                  <a:pt x="1742724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031688">
            <a:off x="-1367846" y="1995681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3" y="0"/>
                </a:lnTo>
                <a:lnTo>
                  <a:pt x="1742723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645309" y="1304925"/>
            <a:ext cx="9227815" cy="119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1"/>
              </a:lnSpc>
            </a:pPr>
            <a:r>
              <a:rPr lang="en-US" sz="9635">
                <a:solidFill>
                  <a:srgbClr val="1F4327"/>
                </a:solidFill>
                <a:latin typeface="Lava Pro Grunge"/>
                <a:ea typeface="Lava Pro Grunge"/>
                <a:cs typeface="Lava Pro Grunge"/>
                <a:sym typeface="Lava Pro Grunge"/>
              </a:rPr>
              <a:t>METHODOLOGY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67600" y="3532619"/>
            <a:ext cx="13651219" cy="4958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Data Collection: Soil and weather parameters from a public dataset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Data Processing: Cleaning and normalization.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Model Training: Machine Learning algorithms (randomforest classifier)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Prediction: Best crop suggestion based on inputs.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Deployment: Web-based user-friendly interface.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Chatbot: Integrated a basic chatbot for farming queries.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Visualization: Added charts and tested system functionality</a:t>
            </a:r>
          </a:p>
          <a:p>
            <a:pPr algn="just">
              <a:lnSpc>
                <a:spcPts val="4416"/>
              </a:lnSpc>
            </a:pPr>
            <a:endParaRPr lang="en-US" sz="3154">
              <a:solidFill>
                <a:srgbClr val="1F4327"/>
              </a:solidFill>
              <a:latin typeface="TS Damas Slab"/>
              <a:ea typeface="TS Damas Slab"/>
              <a:cs typeface="TS Damas Slab"/>
              <a:sym typeface="TS Damas Slab"/>
            </a:endParaRPr>
          </a:p>
          <a:p>
            <a:pPr algn="just">
              <a:lnSpc>
                <a:spcPts val="4416"/>
              </a:lnSpc>
            </a:pPr>
            <a:endParaRPr lang="en-US" sz="3154">
              <a:solidFill>
                <a:srgbClr val="1F4327"/>
              </a:solidFill>
              <a:latin typeface="TS Damas Slab"/>
              <a:ea typeface="TS Damas Slab"/>
              <a:cs typeface="TS Damas Slab"/>
              <a:sym typeface="TS Damas Slab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20948" flipH="1">
            <a:off x="-3045045" y="7092887"/>
            <a:ext cx="7107128" cy="7042518"/>
          </a:xfrm>
          <a:custGeom>
            <a:avLst/>
            <a:gdLst/>
            <a:ahLst/>
            <a:cxnLst/>
            <a:rect l="l" t="t" r="r" b="b"/>
            <a:pathLst>
              <a:path w="7107128" h="7042518">
                <a:moveTo>
                  <a:pt x="7107128" y="0"/>
                </a:moveTo>
                <a:lnTo>
                  <a:pt x="0" y="0"/>
                </a:lnTo>
                <a:lnTo>
                  <a:pt x="0" y="7042518"/>
                </a:lnTo>
                <a:lnTo>
                  <a:pt x="7107128" y="7042518"/>
                </a:lnTo>
                <a:lnTo>
                  <a:pt x="71071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612255">
            <a:off x="-973322" y="6822767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0" y="0"/>
                </a:moveTo>
                <a:lnTo>
                  <a:pt x="4927817" y="0"/>
                </a:lnTo>
                <a:lnTo>
                  <a:pt x="4927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92282" y="-2260258"/>
            <a:ext cx="5618691" cy="5859552"/>
          </a:xfrm>
          <a:custGeom>
            <a:avLst/>
            <a:gdLst/>
            <a:ahLst/>
            <a:cxnLst/>
            <a:rect l="l" t="t" r="r" b="b"/>
            <a:pathLst>
              <a:path w="5618691" h="5859552">
                <a:moveTo>
                  <a:pt x="0" y="0"/>
                </a:moveTo>
                <a:lnTo>
                  <a:pt x="5618692" y="0"/>
                </a:lnTo>
                <a:lnTo>
                  <a:pt x="5618692" y="5859552"/>
                </a:lnTo>
                <a:lnTo>
                  <a:pt x="0" y="5859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612255" flipH="1" flipV="1">
            <a:off x="14254911" y="-716052"/>
            <a:ext cx="4927817" cy="4114800"/>
          </a:xfrm>
          <a:custGeom>
            <a:avLst/>
            <a:gdLst/>
            <a:ahLst/>
            <a:cxnLst/>
            <a:rect l="l" t="t" r="r" b="b"/>
            <a:pathLst>
              <a:path w="4927817" h="4114800">
                <a:moveTo>
                  <a:pt x="492781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927817" y="0"/>
                </a:lnTo>
                <a:lnTo>
                  <a:pt x="4927817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773101" y="-2676470"/>
            <a:ext cx="5841092" cy="6061511"/>
          </a:xfrm>
          <a:custGeom>
            <a:avLst/>
            <a:gdLst/>
            <a:ahLst/>
            <a:cxnLst/>
            <a:rect l="l" t="t" r="r" b="b"/>
            <a:pathLst>
              <a:path w="5841092" h="6061511">
                <a:moveTo>
                  <a:pt x="0" y="0"/>
                </a:moveTo>
                <a:lnTo>
                  <a:pt x="5841092" y="0"/>
                </a:lnTo>
                <a:lnTo>
                  <a:pt x="5841092" y="6061511"/>
                </a:lnTo>
                <a:lnTo>
                  <a:pt x="0" y="6061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69534">
            <a:off x="-1399079" y="-879534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8"/>
                </a:lnTo>
                <a:lnTo>
                  <a:pt x="0" y="51263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92282" y="7351529"/>
            <a:ext cx="5250905" cy="4114800"/>
          </a:xfrm>
          <a:custGeom>
            <a:avLst/>
            <a:gdLst/>
            <a:ahLst/>
            <a:cxnLst/>
            <a:rect l="l" t="t" r="r" b="b"/>
            <a:pathLst>
              <a:path w="5250905" h="4114800">
                <a:moveTo>
                  <a:pt x="0" y="0"/>
                </a:moveTo>
                <a:lnTo>
                  <a:pt x="5250905" y="0"/>
                </a:lnTo>
                <a:lnTo>
                  <a:pt x="52509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666300">
            <a:off x="13970948" y="7030771"/>
            <a:ext cx="4855558" cy="5126348"/>
          </a:xfrm>
          <a:custGeom>
            <a:avLst/>
            <a:gdLst/>
            <a:ahLst/>
            <a:cxnLst/>
            <a:rect l="l" t="t" r="r" b="b"/>
            <a:pathLst>
              <a:path w="4855558" h="5126348">
                <a:moveTo>
                  <a:pt x="0" y="0"/>
                </a:moveTo>
                <a:lnTo>
                  <a:pt x="4855558" y="0"/>
                </a:lnTo>
                <a:lnTo>
                  <a:pt x="4855558" y="5126349"/>
                </a:lnTo>
                <a:lnTo>
                  <a:pt x="0" y="5126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10186" y="-1244814"/>
            <a:ext cx="2164192" cy="2204269"/>
          </a:xfrm>
          <a:custGeom>
            <a:avLst/>
            <a:gdLst/>
            <a:ahLst/>
            <a:cxnLst/>
            <a:rect l="l" t="t" r="r" b="b"/>
            <a:pathLst>
              <a:path w="2164192" h="2204269">
                <a:moveTo>
                  <a:pt x="0" y="0"/>
                </a:moveTo>
                <a:lnTo>
                  <a:pt x="2164192" y="0"/>
                </a:lnTo>
                <a:lnTo>
                  <a:pt x="2164192" y="2204269"/>
                </a:lnTo>
                <a:lnTo>
                  <a:pt x="0" y="2204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67991" y="9258300"/>
            <a:ext cx="2550793" cy="1737458"/>
          </a:xfrm>
          <a:custGeom>
            <a:avLst/>
            <a:gdLst/>
            <a:ahLst/>
            <a:cxnLst/>
            <a:rect l="l" t="t" r="r" b="b"/>
            <a:pathLst>
              <a:path w="2550793" h="1737458">
                <a:moveTo>
                  <a:pt x="0" y="0"/>
                </a:moveTo>
                <a:lnTo>
                  <a:pt x="2550794" y="0"/>
                </a:lnTo>
                <a:lnTo>
                  <a:pt x="2550794" y="1737458"/>
                </a:lnTo>
                <a:lnTo>
                  <a:pt x="0" y="1737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982351">
            <a:off x="17416638" y="6074217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4" y="0"/>
                </a:lnTo>
                <a:lnTo>
                  <a:pt x="1742724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6031688">
            <a:off x="-1367846" y="1995681"/>
            <a:ext cx="1742723" cy="2778720"/>
          </a:xfrm>
          <a:custGeom>
            <a:avLst/>
            <a:gdLst/>
            <a:ahLst/>
            <a:cxnLst/>
            <a:rect l="l" t="t" r="r" b="b"/>
            <a:pathLst>
              <a:path w="1742723" h="2778720">
                <a:moveTo>
                  <a:pt x="0" y="0"/>
                </a:moveTo>
                <a:lnTo>
                  <a:pt x="1742723" y="0"/>
                </a:lnTo>
                <a:lnTo>
                  <a:pt x="1742723" y="2778720"/>
                </a:lnTo>
                <a:lnTo>
                  <a:pt x="0" y="27787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334666" y="2311546"/>
            <a:ext cx="10178642" cy="716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User-friendly web interface for farmers.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Inputs: Nitrogen, Phosphorus, Potassium (Soil nutrients)</a:t>
            </a:r>
          </a:p>
          <a:p>
            <a:pPr algn="just">
              <a:lnSpc>
                <a:spcPts val="4416"/>
              </a:lnSpc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               Temperature, Humidity, Rainfall (Weather factors)</a:t>
            </a:r>
          </a:p>
          <a:p>
            <a:pPr algn="just">
              <a:lnSpc>
                <a:spcPts val="4416"/>
              </a:lnSpc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               Soil pH (Affects nutrient absorption)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Output: Predicted best crop.</a:t>
            </a:r>
          </a:p>
          <a:p>
            <a:pPr algn="just">
              <a:lnSpc>
                <a:spcPts val="4416"/>
              </a:lnSpc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    </a:t>
            </a:r>
          </a:p>
          <a:p>
            <a:pPr algn="just">
              <a:lnSpc>
                <a:spcPts val="4416"/>
              </a:lnSpc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 </a:t>
            </a:r>
            <a:r>
              <a:rPr lang="en-US" sz="3154" b="1" u="sng" dirty="0">
                <a:solidFill>
                  <a:srgbClr val="1F4327"/>
                </a:solidFill>
                <a:latin typeface="TS Damas Slab Bold"/>
                <a:ea typeface="TS Damas Slab Bold"/>
                <a:cs typeface="TS Damas Slab Bold"/>
                <a:sym typeface="TS Damas Slab Bold"/>
              </a:rPr>
              <a:t>Features: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Manual and voice input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Chatbot provides answers to farming queries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Charts for data insights</a:t>
            </a:r>
          </a:p>
          <a:p>
            <a:pPr marL="681071" lvl="1" indent="-340536" algn="just">
              <a:lnSpc>
                <a:spcPts val="4416"/>
              </a:lnSpc>
              <a:buFont typeface="Arial"/>
              <a:buChar char="•"/>
            </a:pPr>
            <a:r>
              <a:rPr lang="en-US" sz="3154" dirty="0">
                <a:solidFill>
                  <a:srgbClr val="1F4327"/>
                </a:solidFill>
                <a:latin typeface="TS Damas Slab"/>
                <a:ea typeface="TS Damas Slab"/>
                <a:cs typeface="TS Damas Slab"/>
                <a:sym typeface="TS Damas Slab"/>
              </a:rPr>
              <a:t>Real-time results display</a:t>
            </a:r>
          </a:p>
          <a:p>
            <a:pPr algn="just">
              <a:lnSpc>
                <a:spcPts val="4416"/>
              </a:lnSpc>
            </a:pPr>
            <a:endParaRPr lang="en-US" sz="3154" dirty="0">
              <a:solidFill>
                <a:srgbClr val="1F4327"/>
              </a:solidFill>
              <a:latin typeface="TS Damas Slab"/>
              <a:ea typeface="TS Damas Slab"/>
              <a:cs typeface="TS Damas Slab"/>
              <a:sym typeface="TS Damas Slab"/>
            </a:endParaRPr>
          </a:p>
          <a:p>
            <a:pPr algn="ctr">
              <a:lnSpc>
                <a:spcPts val="4416"/>
              </a:lnSpc>
            </a:pPr>
            <a:endParaRPr lang="en-US" sz="3154" dirty="0">
              <a:solidFill>
                <a:srgbClr val="1F4327"/>
              </a:solidFill>
              <a:latin typeface="TS Damas Slab"/>
              <a:ea typeface="TS Damas Slab"/>
              <a:cs typeface="TS Damas Slab"/>
              <a:sym typeface="TS Damas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086187" y="807055"/>
            <a:ext cx="5483754" cy="138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76"/>
              </a:lnSpc>
              <a:spcBef>
                <a:spcPct val="0"/>
              </a:spcBef>
            </a:pPr>
            <a:r>
              <a:rPr lang="en-US" sz="7983" dirty="0">
                <a:solidFill>
                  <a:srgbClr val="1F4327"/>
                </a:solidFill>
                <a:latin typeface="Lava Pro Grunge"/>
                <a:ea typeface="Lava Pro Grunge"/>
                <a:cs typeface="Lava Pro Grunge"/>
                <a:sym typeface="Lava Pro Grunge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6C2CF0-0DEB-6538-DD58-68668BA649F0}"/>
              </a:ext>
            </a:extLst>
          </p:cNvPr>
          <p:cNvSpPr txBox="1"/>
          <p:nvPr/>
        </p:nvSpPr>
        <p:spPr>
          <a:xfrm>
            <a:off x="6534961" y="583483"/>
            <a:ext cx="123893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rgbClr val="1F4327"/>
                </a:solidFill>
                <a:latin typeface="Lava Pro Grunge"/>
                <a:ea typeface="Lava Pro Grunge"/>
                <a:cs typeface="Lava Pro Grunge"/>
                <a:sym typeface="Lava Pro Grunge"/>
              </a:rPr>
              <a:t>WEBSITE-OVERVIEW</a:t>
            </a:r>
            <a:endParaRPr lang="en-IN" sz="7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16437" y="1028700"/>
            <a:ext cx="8255127" cy="1974351"/>
          </a:xfrm>
          <a:custGeom>
            <a:avLst/>
            <a:gdLst/>
            <a:ahLst/>
            <a:cxnLst/>
            <a:rect l="l" t="t" r="r" b="b"/>
            <a:pathLst>
              <a:path w="8255127" h="1974351">
                <a:moveTo>
                  <a:pt x="0" y="0"/>
                </a:moveTo>
                <a:lnTo>
                  <a:pt x="8255126" y="0"/>
                </a:lnTo>
                <a:lnTo>
                  <a:pt x="8255126" y="1974351"/>
                </a:lnTo>
                <a:lnTo>
                  <a:pt x="0" y="197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29329" y="3864587"/>
            <a:ext cx="16481229" cy="360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1654" lvl="1" indent="-440827" algn="just">
              <a:lnSpc>
                <a:spcPts val="5717"/>
              </a:lnSpc>
              <a:buFont typeface="Arial"/>
              <a:buChar char="•"/>
            </a:pPr>
            <a:r>
              <a:rPr lang="en-US" sz="4083">
                <a:solidFill>
                  <a:srgbClr val="224B2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Integration with real-time weather APIs.</a:t>
            </a:r>
          </a:p>
          <a:p>
            <a:pPr marL="881654" lvl="1" indent="-440827" algn="just">
              <a:lnSpc>
                <a:spcPts val="5717"/>
              </a:lnSpc>
              <a:buFont typeface="Arial"/>
              <a:buChar char="•"/>
            </a:pPr>
            <a:r>
              <a:rPr lang="en-US" sz="4083">
                <a:solidFill>
                  <a:srgbClr val="224B2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AI-powered disease detection for crops.</a:t>
            </a:r>
          </a:p>
          <a:p>
            <a:pPr marL="881654" lvl="1" indent="-440827" algn="just">
              <a:lnSpc>
                <a:spcPts val="5717"/>
              </a:lnSpc>
              <a:buFont typeface="Arial"/>
              <a:buChar char="•"/>
            </a:pPr>
            <a:r>
              <a:rPr lang="en-US" sz="4083">
                <a:solidFill>
                  <a:srgbClr val="224B2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Mobile app version for farmers.</a:t>
            </a:r>
          </a:p>
          <a:p>
            <a:pPr marL="881654" lvl="1" indent="-440827" algn="just">
              <a:lnSpc>
                <a:spcPts val="5717"/>
              </a:lnSpc>
              <a:buFont typeface="Arial"/>
              <a:buChar char="•"/>
            </a:pPr>
            <a:r>
              <a:rPr lang="en-US" sz="4083">
                <a:solidFill>
                  <a:srgbClr val="224B2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Multi-language voice support for accessibility.</a:t>
            </a:r>
          </a:p>
          <a:p>
            <a:pPr marL="881654" lvl="1" indent="-440827" algn="just">
              <a:lnSpc>
                <a:spcPts val="5717"/>
              </a:lnSpc>
              <a:buFont typeface="Arial"/>
              <a:buChar char="•"/>
            </a:pPr>
            <a:r>
              <a:rPr lang="en-US" sz="4083">
                <a:solidFill>
                  <a:srgbClr val="224B2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Blockchain for transparent farming records.</a:t>
            </a:r>
          </a:p>
        </p:txBody>
      </p:sp>
      <p:sp>
        <p:nvSpPr>
          <p:cNvPr id="4" name="Freeform 4"/>
          <p:cNvSpPr/>
          <p:nvPr/>
        </p:nvSpPr>
        <p:spPr>
          <a:xfrm rot="1199762">
            <a:off x="-981145" y="7554843"/>
            <a:ext cx="4307593" cy="3406915"/>
          </a:xfrm>
          <a:custGeom>
            <a:avLst/>
            <a:gdLst/>
            <a:ahLst/>
            <a:cxnLst/>
            <a:rect l="l" t="t" r="r" b="b"/>
            <a:pathLst>
              <a:path w="4307593" h="3406915">
                <a:moveTo>
                  <a:pt x="0" y="0"/>
                </a:moveTo>
                <a:lnTo>
                  <a:pt x="4307593" y="0"/>
                </a:lnTo>
                <a:lnTo>
                  <a:pt x="4307593" y="3406914"/>
                </a:lnTo>
                <a:lnTo>
                  <a:pt x="0" y="3406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224327">
            <a:off x="15105503" y="7663219"/>
            <a:ext cx="4307593" cy="3406915"/>
          </a:xfrm>
          <a:custGeom>
            <a:avLst/>
            <a:gdLst/>
            <a:ahLst/>
            <a:cxnLst/>
            <a:rect l="l" t="t" r="r" b="b"/>
            <a:pathLst>
              <a:path w="4307593" h="3406915">
                <a:moveTo>
                  <a:pt x="0" y="0"/>
                </a:moveTo>
                <a:lnTo>
                  <a:pt x="4307594" y="0"/>
                </a:lnTo>
                <a:lnTo>
                  <a:pt x="4307594" y="3406914"/>
                </a:lnTo>
                <a:lnTo>
                  <a:pt x="0" y="3406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05364" y="-500397"/>
            <a:ext cx="7315200" cy="1529097"/>
          </a:xfrm>
          <a:custGeom>
            <a:avLst/>
            <a:gdLst/>
            <a:ahLst/>
            <a:cxnLst/>
            <a:rect l="l" t="t" r="r" b="b"/>
            <a:pathLst>
              <a:path w="7315200" h="1529097">
                <a:moveTo>
                  <a:pt x="0" y="0"/>
                </a:moveTo>
                <a:lnTo>
                  <a:pt x="7315200" y="0"/>
                </a:lnTo>
                <a:lnTo>
                  <a:pt x="7315200" y="1529097"/>
                </a:lnTo>
                <a:lnTo>
                  <a:pt x="0" y="15290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16437" y="1541060"/>
            <a:ext cx="6341177" cy="854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3"/>
              </a:lnSpc>
              <a:spcBef>
                <a:spcPct val="0"/>
              </a:spcBef>
            </a:pPr>
            <a:r>
              <a:rPr lang="en-US" sz="4987">
                <a:solidFill>
                  <a:srgbClr val="205732"/>
                </a:solidFill>
                <a:latin typeface="High Cruiser"/>
                <a:ea typeface="High Cruiser"/>
                <a:cs typeface="High Cruiser"/>
                <a:sym typeface="High Cruiser"/>
              </a:rPr>
              <a:t>future enhancement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11608600" y="-500397"/>
            <a:ext cx="7315200" cy="1529097"/>
          </a:xfrm>
          <a:custGeom>
            <a:avLst/>
            <a:gdLst/>
            <a:ahLst/>
            <a:cxnLst/>
            <a:rect l="l" t="t" r="r" b="b"/>
            <a:pathLst>
              <a:path w="7315200" h="1529097">
                <a:moveTo>
                  <a:pt x="7315200" y="0"/>
                </a:moveTo>
                <a:lnTo>
                  <a:pt x="0" y="0"/>
                </a:lnTo>
                <a:lnTo>
                  <a:pt x="0" y="1529097"/>
                </a:lnTo>
                <a:lnTo>
                  <a:pt x="7315200" y="152909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7743746" y="6954579"/>
            <a:ext cx="15376672" cy="3942020"/>
          </a:xfrm>
          <a:custGeom>
            <a:avLst/>
            <a:gdLst/>
            <a:ahLst/>
            <a:cxnLst/>
            <a:rect l="l" t="t" r="r" b="b"/>
            <a:pathLst>
              <a:path w="15376672" h="3942020">
                <a:moveTo>
                  <a:pt x="0" y="3942020"/>
                </a:moveTo>
                <a:lnTo>
                  <a:pt x="15376672" y="3942020"/>
                </a:lnTo>
                <a:lnTo>
                  <a:pt x="15376672" y="0"/>
                </a:lnTo>
                <a:lnTo>
                  <a:pt x="0" y="0"/>
                </a:lnTo>
                <a:lnTo>
                  <a:pt x="0" y="39420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377" y="3532695"/>
            <a:ext cx="14641853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03330"/>
                </a:solidFill>
                <a:latin typeface="Canva Sans"/>
                <a:ea typeface="Canva Sans"/>
                <a:cs typeface="Canva Sans"/>
                <a:sym typeface="Canva Sans"/>
              </a:rPr>
              <a:t>AI-powered system supports smart and efficient farming.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03330"/>
                </a:solidFill>
                <a:latin typeface="Canva Sans"/>
                <a:ea typeface="Canva Sans"/>
                <a:cs typeface="Canva Sans"/>
                <a:sym typeface="Canva Sans"/>
              </a:rPr>
              <a:t>Recommends ideal crops using soil and weather data.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03330"/>
                </a:solidFill>
                <a:latin typeface="Canva Sans"/>
                <a:ea typeface="Canva Sans"/>
                <a:cs typeface="Canva Sans"/>
                <a:sym typeface="Canva Sans"/>
              </a:rPr>
              <a:t>Improves yield and encourages sustainable agriculture.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03330"/>
                </a:solidFill>
                <a:latin typeface="Canva Sans"/>
                <a:ea typeface="Canva Sans"/>
                <a:cs typeface="Canva Sans"/>
                <a:sym typeface="Canva Sans"/>
              </a:rPr>
              <a:t>Easy-to-use web interface with text and voice input.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03330"/>
                </a:solidFill>
                <a:latin typeface="Canva Sans"/>
                <a:ea typeface="Canva Sans"/>
                <a:cs typeface="Canva Sans"/>
                <a:sym typeface="Canva Sans"/>
              </a:rPr>
              <a:t>Chatbot and visual insights enhance user experience.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03330"/>
                </a:solidFill>
                <a:latin typeface="Canva Sans"/>
                <a:ea typeface="Canva Sans"/>
                <a:cs typeface="Canva Sans"/>
                <a:sym typeface="Canva Sans"/>
              </a:rPr>
              <a:t>Promotes data-driven, modern agricultural practices.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0333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4687" y="1477189"/>
            <a:ext cx="5692220" cy="147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>
                <a:solidFill>
                  <a:srgbClr val="307834"/>
                </a:solidFill>
                <a:latin typeface="TDTD귀욤뭉이"/>
                <a:ea typeface="TDTD귀욤뭉이"/>
                <a:cs typeface="TDTD귀욤뭉이"/>
                <a:sym typeface="TDTD귀욤뭉이"/>
              </a:rPr>
              <a:t>Conclusion</a:t>
            </a:r>
          </a:p>
        </p:txBody>
      </p:sp>
      <p:sp>
        <p:nvSpPr>
          <p:cNvPr id="5" name="Freeform 5"/>
          <p:cNvSpPr/>
          <p:nvPr/>
        </p:nvSpPr>
        <p:spPr>
          <a:xfrm rot="5785515">
            <a:off x="-4575040" y="6316684"/>
            <a:ext cx="9150081" cy="9251001"/>
          </a:xfrm>
          <a:custGeom>
            <a:avLst/>
            <a:gdLst/>
            <a:ahLst/>
            <a:cxnLst/>
            <a:rect l="l" t="t" r="r" b="b"/>
            <a:pathLst>
              <a:path w="9150081" h="9251001">
                <a:moveTo>
                  <a:pt x="0" y="0"/>
                </a:moveTo>
                <a:lnTo>
                  <a:pt x="9150080" y="0"/>
                </a:lnTo>
                <a:lnTo>
                  <a:pt x="9150080" y="9251000"/>
                </a:lnTo>
                <a:lnTo>
                  <a:pt x="0" y="925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2771" y="8810096"/>
            <a:ext cx="2988026" cy="896408"/>
          </a:xfrm>
          <a:custGeom>
            <a:avLst/>
            <a:gdLst/>
            <a:ahLst/>
            <a:cxnLst/>
            <a:rect l="l" t="t" r="r" b="b"/>
            <a:pathLst>
              <a:path w="2988026" h="896408">
                <a:moveTo>
                  <a:pt x="0" y="0"/>
                </a:moveTo>
                <a:lnTo>
                  <a:pt x="2988026" y="0"/>
                </a:lnTo>
                <a:lnTo>
                  <a:pt x="2988026" y="896408"/>
                </a:lnTo>
                <a:lnTo>
                  <a:pt x="0" y="896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56572" y="8210410"/>
            <a:ext cx="1002728" cy="206380"/>
            <a:chOff x="0" y="0"/>
            <a:chExt cx="812800" cy="1672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67289"/>
            </a:xfrm>
            <a:custGeom>
              <a:avLst/>
              <a:gdLst/>
              <a:ahLst/>
              <a:cxnLst/>
              <a:rect l="l" t="t" r="r" b="b"/>
              <a:pathLst>
                <a:path w="812800" h="167289">
                  <a:moveTo>
                    <a:pt x="406400" y="0"/>
                  </a:moveTo>
                  <a:cubicBezTo>
                    <a:pt x="181951" y="0"/>
                    <a:pt x="0" y="37449"/>
                    <a:pt x="0" y="83645"/>
                  </a:cubicBezTo>
                  <a:cubicBezTo>
                    <a:pt x="0" y="129840"/>
                    <a:pt x="181951" y="167289"/>
                    <a:pt x="406400" y="167289"/>
                  </a:cubicBezTo>
                  <a:cubicBezTo>
                    <a:pt x="630849" y="167289"/>
                    <a:pt x="812800" y="129840"/>
                    <a:pt x="812800" y="83645"/>
                  </a:cubicBezTo>
                  <a:cubicBezTo>
                    <a:pt x="812800" y="3744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A77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-22417"/>
              <a:ext cx="660400" cy="1740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4513303">
            <a:off x="11463696" y="1374100"/>
            <a:ext cx="5794566" cy="6594100"/>
          </a:xfrm>
          <a:custGeom>
            <a:avLst/>
            <a:gdLst/>
            <a:ahLst/>
            <a:cxnLst/>
            <a:rect l="l" t="t" r="r" b="b"/>
            <a:pathLst>
              <a:path w="5794566" h="6594100">
                <a:moveTo>
                  <a:pt x="0" y="0"/>
                </a:moveTo>
                <a:lnTo>
                  <a:pt x="5794566" y="0"/>
                </a:lnTo>
                <a:lnTo>
                  <a:pt x="5794566" y="6594100"/>
                </a:lnTo>
                <a:lnTo>
                  <a:pt x="0" y="65941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62430">
            <a:off x="-1989916" y="-596120"/>
            <a:ext cx="3979831" cy="4842715"/>
          </a:xfrm>
          <a:custGeom>
            <a:avLst/>
            <a:gdLst/>
            <a:ahLst/>
            <a:cxnLst/>
            <a:rect l="l" t="t" r="r" b="b"/>
            <a:pathLst>
              <a:path w="3979831" h="4842715">
                <a:moveTo>
                  <a:pt x="0" y="0"/>
                </a:moveTo>
                <a:lnTo>
                  <a:pt x="3979832" y="0"/>
                </a:lnTo>
                <a:lnTo>
                  <a:pt x="3979832" y="4842715"/>
                </a:lnTo>
                <a:lnTo>
                  <a:pt x="0" y="48427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V="1">
            <a:off x="9570964" y="7735494"/>
            <a:ext cx="15376672" cy="3942020"/>
          </a:xfrm>
          <a:custGeom>
            <a:avLst/>
            <a:gdLst/>
            <a:ahLst/>
            <a:cxnLst/>
            <a:rect l="l" t="t" r="r" b="b"/>
            <a:pathLst>
              <a:path w="15376672" h="3942020">
                <a:moveTo>
                  <a:pt x="0" y="3942020"/>
                </a:moveTo>
                <a:lnTo>
                  <a:pt x="15376672" y="3942020"/>
                </a:lnTo>
                <a:lnTo>
                  <a:pt x="15376672" y="0"/>
                </a:lnTo>
                <a:lnTo>
                  <a:pt x="0" y="0"/>
                </a:lnTo>
                <a:lnTo>
                  <a:pt x="0" y="394202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063240"/>
            <a:ext cx="18288000" cy="7223760"/>
          </a:xfrm>
          <a:custGeom>
            <a:avLst/>
            <a:gdLst/>
            <a:ahLst/>
            <a:cxnLst/>
            <a:rect l="l" t="t" r="r" b="b"/>
            <a:pathLst>
              <a:path w="18288000" h="7223760">
                <a:moveTo>
                  <a:pt x="0" y="0"/>
                </a:moveTo>
                <a:lnTo>
                  <a:pt x="18288000" y="0"/>
                </a:lnTo>
                <a:lnTo>
                  <a:pt x="18288000" y="7223760"/>
                </a:lnTo>
                <a:lnTo>
                  <a:pt x="0" y="722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92851" y="3836689"/>
            <a:ext cx="10102298" cy="235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1"/>
              </a:lnSpc>
              <a:spcBef>
                <a:spcPct val="0"/>
              </a:spcBef>
            </a:pPr>
            <a:r>
              <a:rPr lang="en-US" sz="13822">
                <a:solidFill>
                  <a:srgbClr val="205732"/>
                </a:solidFill>
                <a:latin typeface="High Cruiser"/>
                <a:ea typeface="High Cruiser"/>
                <a:cs typeface="High Cruiser"/>
                <a:sym typeface="High Cruis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482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TDTD귀욤뭉이</vt:lpstr>
      <vt:lpstr>TS Damas Slab Bold</vt:lpstr>
      <vt:lpstr>League Spartan</vt:lpstr>
      <vt:lpstr>Lava Pro Grunge</vt:lpstr>
      <vt:lpstr>Canva Sans</vt:lpstr>
      <vt:lpstr>TS Damas Slab</vt:lpstr>
      <vt:lpstr>Lava Pro Rough</vt:lpstr>
      <vt:lpstr>Arial</vt:lpstr>
      <vt:lpstr>High Cruiser</vt:lpstr>
      <vt:lpstr>Calibri</vt:lpstr>
      <vt:lpstr>Alice</vt:lpstr>
      <vt:lpstr>Glacial Indifference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"Smart Farming Assistant: AI-Powered Agriculture</dc:title>
  <dc:creator>Ajanya K A</dc:creator>
  <cp:lastModifiedBy>Ajanya K A</cp:lastModifiedBy>
  <cp:revision>4</cp:revision>
  <dcterms:created xsi:type="dcterms:W3CDTF">2006-08-16T00:00:00Z</dcterms:created>
  <dcterms:modified xsi:type="dcterms:W3CDTF">2025-09-26T16:16:16Z</dcterms:modified>
  <dc:identifier>DAGiptC5Z0c</dc:identifier>
</cp:coreProperties>
</file>